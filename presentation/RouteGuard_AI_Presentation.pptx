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02ad178c906439d" /><Relationship Type="http://schemas.openxmlformats.org/package/2006/relationships/metadata/core-properties" Target="/docProps/core.xml" Id="Rbb0680f72af64845" /><Relationship Type="http://schemas.openxmlformats.org/officeDocument/2006/relationships/extended-properties" Target="/docProps/app.xml" Id="R5f1ba5f731d54592" /><Relationship Type="http://schemas.openxmlformats.org/officeDocument/2006/relationships/custom-properties" Target="/docProps/custom.xml" Id="Re28a9611015a41a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1ebc1ef034ee4604"/>
  </p:notesMasterIdLst>
  <p:sldIdLst>
    <p:sldId id="256" r:id="R57fc3af5c6d2442b"/>
    <p:sldId id="257" r:id="R708bc0a463c64c4f"/>
    <p:sldId id="258" r:id="R973e06e3aae44afe"/>
    <p:sldId id="259" r:id="R8b392ccc2582497f"/>
    <p:sldId id="260" r:id="Re65617ae08f14fcf"/>
    <p:sldId id="261" r:id="Rda0f8ae1f79c469f"/>
    <p:sldId id="262" r:id="R29baaaab3b184ebb"/>
    <p:sldId id="263" r:id="R476504bf98a24a11"/>
    <p:sldId id="264" r:id="Ra989eea221964391"/>
    <p:sldId id="265" r:id="Rb7e6ce762bc441e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7fc3af5c6d2442b" /><Relationship Type="http://schemas.openxmlformats.org/officeDocument/2006/relationships/notesMaster" Target="/ppt/notesMasters/notesMaster1.xml" Id="R1ebc1ef034ee4604" /><Relationship Type="http://schemas.openxmlformats.org/officeDocument/2006/relationships/slide" Target="/ppt/slides/slide2.xml" Id="R708bc0a463c64c4f" /><Relationship Type="http://schemas.openxmlformats.org/officeDocument/2006/relationships/slide" Target="/ppt/slides/slide3.xml" Id="R973e06e3aae44afe" /><Relationship Type="http://schemas.openxmlformats.org/officeDocument/2006/relationships/slide" Target="/ppt/slides/slide4.xml" Id="R8b392ccc2582497f" /><Relationship Type="http://schemas.openxmlformats.org/officeDocument/2006/relationships/slide" Target="/ppt/slides/slide5.xml" Id="Re65617ae08f14fcf" /><Relationship Type="http://schemas.openxmlformats.org/officeDocument/2006/relationships/slide" Target="/ppt/slides/slide6.xml" Id="Rda0f8ae1f79c469f" /><Relationship Type="http://schemas.openxmlformats.org/officeDocument/2006/relationships/slide" Target="/ppt/slides/slide7.xml" Id="R29baaaab3b184ebb" /><Relationship Type="http://schemas.openxmlformats.org/officeDocument/2006/relationships/slide" Target="/ppt/slides/slide8.xml" Id="R476504bf98a24a11" /><Relationship Type="http://schemas.openxmlformats.org/officeDocument/2006/relationships/slide" Target="/ppt/slides/slide9.xml" Id="Ra989eea221964391" /><Relationship Type="http://schemas.openxmlformats.org/officeDocument/2006/relationships/slide" Target="/ppt/slides/slide10.xml" Id="Rb7e6ce762bc4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a838b071e6b430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866b941cf854ee0" /><Relationship Type="http://schemas.openxmlformats.org/officeDocument/2006/relationships/slide" Target="/ppt/slides/slide1.xml" Id="R5c792911887940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17d819cce04803" /><Relationship Type="http://schemas.openxmlformats.org/officeDocument/2006/relationships/slide" Target="/ppt/slides/slide2.xml" Id="R4cb5eceacd7e4f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d9c159243d48f0" /><Relationship Type="http://schemas.openxmlformats.org/officeDocument/2006/relationships/slide" Target="/ppt/slides/slide3.xml" Id="R2a0a7aca63564d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da979a3b7184fda" /><Relationship Type="http://schemas.openxmlformats.org/officeDocument/2006/relationships/slide" Target="/ppt/slides/slide4.xml" Id="R8e51862ecb3b42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f69e9a2dbe443c" /><Relationship Type="http://schemas.openxmlformats.org/officeDocument/2006/relationships/slide" Target="/ppt/slides/slide5.xml" Id="Rf89ea6bd814b45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ddaea3f501c418e" /><Relationship Type="http://schemas.openxmlformats.org/officeDocument/2006/relationships/slide" Target="/ppt/slides/slide6.xml" Id="Rd4b3763cc6a44f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a618231ef64cb8" /><Relationship Type="http://schemas.openxmlformats.org/officeDocument/2006/relationships/slide" Target="/ppt/slides/slide7.xml" Id="R8faffb4ed62e44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c46b2e328a48fe" /><Relationship Type="http://schemas.openxmlformats.org/officeDocument/2006/relationships/slide" Target="/ppt/slides/slide8.xml" Id="R136124018e834e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6ea2bd5a0744602" /><Relationship Type="http://schemas.openxmlformats.org/officeDocument/2006/relationships/slide" Target="/ppt/slides/slide9.xml" Id="Re9f2789b1bc349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cde7b92302492b" /><Relationship Type="http://schemas.openxmlformats.org/officeDocument/2006/relationships/slide" Target="/ppt/slides/slide10.xml" Id="R1140372233da49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of 10. RouteGuard AI - IBM BoB AI Innovation Hackathon 2026 First Round Submission by Team Vibhishana assembles, CHARUSAT University.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of 10. The Problem: Supply chain disruptions cascade silently across active shipments. Cold chain breaches discovered too late. Fleet wasted. Dispatchers lack comparison tools.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 of 10. RouteGuard AI combines four integrated pillars into a single logistics control tower. All four feed the IBM BoB grounded copilot layer.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 of 10. Key architecture insight: deterministic Python engines compute all scores and facts. IBM BoB only synthesises and explains them in plain language - it never invents numbers.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5 of 10. Risk engine is 100% deterministic. Every RiskFactor object returned to the API has an explicit name, contribution in points, and explanation string. No black box.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6 of 10. Cold chain engine applies WHO TRS 961 and FDA 21 CFR GDP thresholds deterministically. Catches excursions before delivery - not after.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7 of 10. IBM BoB integration is load-bearing, not decorative. The grounding constraint is a single system prompt instruction that makes the copilot trustworthy for real dispatchers.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8 of 10. The dashboard is a fully working single-page app. All 16 pytest unit tests pass. Deterministic endpoints work without any LLM key. Only copilot and negotiation need watsonx credentials.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9 of 10. Three measurable outcomes for any logistics operator using RouteGuard AI at scale. 80% faster response, zero cold chain loss, 25% fleet cost savings.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10 of 10. Summary and thank you. The core insight that wins: deterministic engines compute all facts, IBM BoB only explains them. Fully auditable, fully trustworthy.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724c5668b45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2d741ba7c4a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52b23e1ce4e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d4578fe8f4c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9413f813b43d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f065b1ab67b46f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d041237c34033" /><Relationship Type="http://schemas.openxmlformats.org/officeDocument/2006/relationships/notesSlide" Target="/ppt/notesSlides/notesSlide1.xml" Id="R1bcb930c07fb43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bf7a5b1274412" /><Relationship Type="http://schemas.openxmlformats.org/officeDocument/2006/relationships/notesSlide" Target="/ppt/notesSlides/notesSlide2.xml" Id="R7be9be2de0d14f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83bc565ba4a2c" /><Relationship Type="http://schemas.openxmlformats.org/officeDocument/2006/relationships/notesSlide" Target="/ppt/notesSlides/notesSlide3.xml" Id="R1f2002a8418946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66a2582f043b7" /><Relationship Type="http://schemas.openxmlformats.org/officeDocument/2006/relationships/notesSlide" Target="/ppt/notesSlides/notesSlide4.xml" Id="R51154381c5ed4a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6d75357914813" /><Relationship Type="http://schemas.openxmlformats.org/officeDocument/2006/relationships/notesSlide" Target="/ppt/notesSlides/notesSlide5.xml" Id="R1cbc22ee752741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db2c0820a414a" /><Relationship Type="http://schemas.openxmlformats.org/officeDocument/2006/relationships/notesSlide" Target="/ppt/notesSlides/notesSlide6.xml" Id="Rcb63dabe8f9f42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24289d1ac49c9" /><Relationship Type="http://schemas.openxmlformats.org/officeDocument/2006/relationships/notesSlide" Target="/ppt/notesSlides/notesSlide7.xml" Id="R0b561273e5624a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3c8c8e9604be6" /><Relationship Type="http://schemas.openxmlformats.org/officeDocument/2006/relationships/notesSlide" Target="/ppt/notesSlides/notesSlide8.xml" Id="Re2ed678f7fd44c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25c2757b54c0f" /><Relationship Type="http://schemas.openxmlformats.org/officeDocument/2006/relationships/notesSlide" Target="/ppt/notesSlides/notesSlide9.xml" Id="R12c746548d934d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76685730f4ae6" /><Relationship Type="http://schemas.openxmlformats.org/officeDocument/2006/relationships/notesSlide" Target="/ppt/notesSlides/notesSlide10.xml" Id="Rb1e0b2c456fa4e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0" name="TagLine"/>
          <p:cNvSpPr txBox="1"/>
          <p:nvPr/>
        </p:nvSpPr>
        <p:spPr>
          <a:xfrm xmlns:a="http://schemas.openxmlformats.org/drawingml/2006/main">
            <a:off x="540000" y="288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38BDF8"/>
                </a:solidFill>
              </a:rPr>
              <a:t>IBM BoB AI Innovation Hackathon 2026 | AI Track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540000" y="720000"/>
            <a:ext cx="10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FFFFFF"/>
                </a:solidFill>
              </a:rPr>
              <a:t>RouteGuard AI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540000" y="180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94A3B8"/>
                </a:solidFill>
              </a:rPr>
              <a:t>Supply Chain Disruption Assistant &amp; Fleet Utilisation Optimizer</a:t>
            </a:r>
          </a:p>
        </p:txBody>
      </p:sp>
      <p:sp>
        <p:nvSpPr>
          <p:cNvPr id="100003" name="TeamBox"/>
          <p:cNvSpPr txBox="1"/>
          <p:nvPr/>
        </p:nvSpPr>
        <p:spPr>
          <a:xfrm xmlns:a="http://schemas.openxmlformats.org/drawingml/2006/main">
            <a:off x="540000" y="2520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Team Vibhishana assembles</a:t>
            </a:r>
          </a:p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Lead: Brijesh Rakhasiya</a:t>
            </a:r>
          </a:p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Members: Vaibhav Tandel, Maulya Soni, Om Choksi</a:t>
            </a:r>
          </a:p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CHARUSAT University</a:t>
            </a:r>
          </a:p>
        </p:txBody>
      </p:sp>
      <p:sp>
        <p:nvSpPr>
          <p:cNvPr id="100004" name="TechBox"/>
          <p:cNvSpPr txBox="1"/>
          <p:nvPr/>
        </p:nvSpPr>
        <p:spPr>
          <a:xfrm xmlns:a="http://schemas.openxmlformats.org/drawingml/2006/main">
            <a:off x="6120000" y="2520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Built With IBM BoB + watsonx.ai</a:t>
            </a:r>
          </a:p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Granite-3-8b-instruct LLM</a:t>
            </a:r>
          </a:p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CrewAI, FastAPI, GDACS API</a:t>
            </a:r>
          </a:p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Repository: bob-ai-hackathon-Vibhishana-assembles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5" name="Tag"/>
          <p:cNvSpPr txBox="1"/>
          <p:nvPr/>
        </p:nvSpPr>
        <p:spPr>
          <a:xfrm xmlns:a="http://schemas.openxmlformats.org/drawingml/2006/main">
            <a:off x="540000" y="288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87171"/>
                </a:solidFill>
              </a:rPr>
              <a:t>THE PROBLEM</a:t>
            </a:r>
          </a:p>
        </p:txBody>
      </p:sp>
      <p:sp>
        <p:nvSpPr>
          <p:cNvPr id="100006" name="Title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Supply Chains Are Flying Blind During Disruptions</a:t>
            </a:r>
          </a:p>
        </p:txBody>
      </p:sp>
      <p:sp>
        <p:nvSpPr>
          <p:cNvPr id="100007" name="Sub"/>
          <p:cNvSpPr txBox="1"/>
          <p:nvPr/>
        </p:nvSpPr>
        <p:spPr>
          <a:xfrm xmlns:a="http://schemas.openxmlformats.org/drawingml/2006/main">
            <a:off x="540000" y="1512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94A3B8"/>
                </a:solidFill>
              </a:rPr>
              <a:t>India's Rs 14 trillion domestic freight market operates with no automated disruption intelligence layer.</a:t>
            </a:r>
          </a:p>
        </p:txBody>
      </p:sp>
      <p:sp>
        <p:nvSpPr>
          <p:cNvPr id="100008" name="B1"/>
          <p:cNvSpPr txBox="1"/>
          <p:nvPr/>
        </p:nvSpPr>
        <p:spPr>
          <a:xfrm xmlns:a="http://schemas.openxmlformats.org/drawingml/2006/main">
            <a:off x="540000" y="2088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BD5E1"/>
                </a:solidFill>
              </a:rPr>
              <a:t>Reactive, Not Proactive: A dispatcher learns about highway closures from phone calls or WhatsApp - not from a system that correlated it against every active shipment.</a:t>
            </a:r>
          </a:p>
        </p:txBody>
      </p:sp>
      <p:sp>
        <p:nvSpPr>
          <p:cNvPr id="100009" name="B2"/>
          <p:cNvSpPr txBox="1"/>
          <p:nvPr/>
        </p:nvSpPr>
        <p:spPr>
          <a:xfrm xmlns:a="http://schemas.openxmlformats.org/drawingml/2006/main">
            <a:off x="540000" y="2592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BD5E1"/>
                </a:solidFill>
              </a:rPr>
              <a:t>Cold Chain Disasters: Temperature excursions on vaccine shipments worth Rs 50L+ are only discovered at delivery when cargo is already spoiled.</a:t>
            </a:r>
          </a:p>
        </p:txBody>
      </p:sp>
      <p:sp>
        <p:nvSpPr>
          <p:cNvPr id="100010" name="B3"/>
          <p:cNvSpPr txBox="1"/>
          <p:nvPr/>
        </p:nvSpPr>
        <p:spPr>
          <a:xfrm xmlns:a="http://schemas.openxmlformats.org/drawingml/2006/main">
            <a:off x="540000" y="3096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BD5E1"/>
                </a:solidFill>
              </a:rPr>
              <a:t>Fleet Sitting Idle: Trucks sit in low-demand depots while adjacent corridors face surge capacity. Fleet utilisation stays below 65%.</a:t>
            </a:r>
          </a:p>
        </p:txBody>
      </p:sp>
      <p:sp>
        <p:nvSpPr>
          <p:cNvPr id="100011" name="B4"/>
          <p:cNvSpPr txBox="1"/>
          <p:nvPr/>
        </p:nvSpPr>
        <p:spPr>
          <a:xfrm xmlns:a="http://schemas.openxmlformats.org/drawingml/2006/main">
            <a:off x="540000" y="360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BD5E1"/>
                </a:solidFill>
              </a:rPr>
              <a:t>No Carrier Comparison: Reroute decisions made without price, ETA, and reliability data. Dispatchers fly blind on trade-offs costing the business lakhs.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12" name="Tag"/>
          <p:cNvSpPr txBox="1"/>
          <p:nvPr/>
        </p:nvSpPr>
        <p:spPr>
          <a:xfrm xmlns:a="http://schemas.openxmlformats.org/drawingml/2006/main">
            <a:off x="540000" y="288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OUR SOLUTION</a:t>
            </a:r>
          </a:p>
        </p:txBody>
      </p:sp>
      <p:sp>
        <p:nvSpPr>
          <p:cNvPr id="100013" name="Title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RouteGuard AI - Five-Stage Logistics Control Tower</a:t>
            </a:r>
          </a:p>
        </p:txBody>
      </p:sp>
      <p:sp>
        <p:nvSpPr>
          <p:cNvPr id="100014" name="Box1"/>
          <p:cNvSpPr txBox="1"/>
          <p:nvPr/>
        </p:nvSpPr>
        <p:spPr>
          <a:xfrm xmlns:a="http://schemas.openxmlformats.org/drawingml/2006/main">
            <a:off x="540000" y="162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1. Live Disruption Radar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GDACS disaster/weather API + NHAI advisories correlated against active shipment coordinates using Haversine geometry.</a:t>
            </a:r>
          </a:p>
        </p:txBody>
      </p:sp>
      <p:sp>
        <p:nvSpPr>
          <p:cNvPr id="100015" name="Box2"/>
          <p:cNvSpPr txBox="1"/>
          <p:nvPr/>
        </p:nvSpPr>
        <p:spPr>
          <a:xfrm xmlns:a="http://schemas.openxmlformats.org/drawingml/2006/main">
            <a:off x="6120000" y="162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151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2. Cold Chain IoT Monitor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Temperature sensor streams before delivery. WHO TRS 961 + FDA 21 CFR GDP regulatory severity classification.</a:t>
            </a:r>
          </a:p>
        </p:txBody>
      </p:sp>
      <p:sp>
        <p:nvSpPr>
          <p:cNvPr id="100016" name="Box3"/>
          <p:cNvSpPr txBox="1"/>
          <p:nvPr/>
        </p:nvSpPr>
        <p:spPr>
          <a:xfrm xmlns:a="http://schemas.openxmlformats.org/drawingml/2006/main">
            <a:off x="540000" y="306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A3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3. CrewAI Carrier Auction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Three autonomous carrier agents (Speed, Cost, Reliability) bid independently. Negotiator agent selects the best bid.</a:t>
            </a:r>
          </a:p>
        </p:txBody>
      </p:sp>
      <p:sp>
        <p:nvSpPr>
          <p:cNvPr id="100017" name="Box4"/>
          <p:cNvSpPr txBox="1"/>
          <p:nvPr/>
        </p:nvSpPr>
        <p:spPr>
          <a:xfrm xmlns:a="http://schemas.openxmlformats.org/drawingml/2006/main">
            <a:off x="6120000" y="3060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1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4. Fleet Redeployment Engine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Scans idle assets within 100km geo-radius of disruption nodes. Matches to overload corridors by capacity and proximity.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18" name="Tag"/>
          <p:cNvSpPr txBox="1"/>
          <p:nvPr/>
        </p:nvSpPr>
        <p:spPr>
          <a:xfrm xmlns:a="http://schemas.openxmlformats.org/drawingml/2006/main">
            <a:off x="540000" y="288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TECHNICAL ARCHITECTURE</a:t>
            </a:r>
          </a:p>
        </p:txBody>
      </p:sp>
      <p:sp>
        <p:nvSpPr>
          <p:cNvPr id="100019" name="Title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Hybrid Architecture: Deterministic Core + Grounded AI</a:t>
            </a:r>
          </a:p>
        </p:txBody>
      </p:sp>
      <p:sp>
        <p:nvSpPr>
          <p:cNvPr id="100020" name="Row1"/>
          <p:cNvSpPr txBox="1"/>
          <p:nvPr/>
        </p:nvSpPr>
        <p:spPr>
          <a:xfrm xmlns:a="http://schemas.openxmlformats.org/drawingml/2006/main">
            <a:off x="540000" y="1620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GDACS Live API + NHAI Seeded Data  --&gt;  Impact Correlation Engine (Haversine)  --&gt;  Risk Scoring Engine (0-100 deterministic)</a:t>
            </a:r>
          </a:p>
        </p:txBody>
      </p:sp>
      <p:sp>
        <p:nvSpPr>
          <p:cNvPr id="100021" name="Row2"/>
          <p:cNvSpPr txBox="1"/>
          <p:nvPr/>
        </p:nvSpPr>
        <p:spPr>
          <a:xfrm xmlns:a="http://schemas.openxmlformats.org/drawingml/2006/main">
            <a:off x="540000" y="2268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Reroute Simulation + Fleet Matching Engine  --&gt;  CrewAI Carrier Negotiation (3 agents + negotiator)</a:t>
            </a:r>
          </a:p>
        </p:txBody>
      </p:sp>
      <p:sp>
        <p:nvSpPr>
          <p:cNvPr id="100022" name="Row3"/>
          <p:cNvSpPr txBox="1"/>
          <p:nvPr/>
        </p:nvSpPr>
        <p:spPr>
          <a:xfrm xmlns:a="http://schemas.openxmlformats.org/drawingml/2006/main">
            <a:off x="540000" y="2916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3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IBM BoB / watsonx.ai Granite Copilot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Grounded to computed facts only - zero hallucination guaranteed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--&gt;  Dispatcher Brief</a:t>
            </a:r>
          </a:p>
        </p:txBody>
      </p:sp>
      <p:sp>
        <p:nvSpPr>
          <p:cNvPr id="100023" name="Stack"/>
          <p:cNvSpPr txBox="1"/>
          <p:nvPr/>
        </p:nvSpPr>
        <p:spPr>
          <a:xfrm xmlns:a="http://schemas.openxmlformats.org/drawingml/2006/main">
            <a:off x="540000" y="378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64748B"/>
                </a:solidFill>
              </a:rPr>
              <a:t>Tech Stack: Python 3.13, FastAPI, Pydantic, CrewAI 0.70, watsonx.ai Granite-3-8b, IBM BoB, GDACS API, pytest (16 tests), HTML5/CSS3 Control Tower UI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24" name="Tag"/>
          <p:cNvSpPr txBox="1"/>
          <p:nvPr/>
        </p:nvSpPr>
        <p:spPr>
          <a:xfrm xmlns:a="http://schemas.openxmlformats.org/drawingml/2006/main">
            <a:off x="540000" y="288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BBF24"/>
                </a:solidFill>
              </a:rPr>
              <a:t>DEEP DIVE: RISK ENGINE</a:t>
            </a:r>
          </a:p>
        </p:txBody>
      </p:sp>
      <p:sp>
        <p:nvSpPr>
          <p:cNvPr id="100025" name="Title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Deterministic 0-100 Risk Scoring - Fully Auditable</a:t>
            </a:r>
          </a:p>
        </p:txBody>
      </p:sp>
      <p:sp>
        <p:nvSpPr>
          <p:cNvPr id="100026" name="Factors"/>
          <p:cNvSpPr txBox="1"/>
          <p:nvPr/>
        </p:nvSpPr>
        <p:spPr>
          <a:xfrm xmlns:a="http://schemas.openxmlformats.org/drawingml/2006/main">
            <a:off x="540000" y="1620000"/>
            <a:ext cx="504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1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SCORING FACTORS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Disruption Severity: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LOW=10pts, MODERATE=25pts, HIGH=40pts, CRITICAL=55pts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Cargo Sensitivity: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STANDARD=0pts, HIGH_VALUE=10pts, TIME_CRITICAL=15pts, COLD_CHAIN=20pts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Cargo Value (INR):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&gt;= Rs 50L gives +15pts | &gt;= Rs 10L gives +8pts</a:t>
            </a:r>
          </a:p>
        </p:txBody>
      </p:sp>
      <p:sp>
        <p:nvSpPr>
          <p:cNvPr id="100027" name="Example"/>
          <p:cNvSpPr txBox="1"/>
          <p:nvPr/>
        </p:nvSpPr>
        <p:spPr>
          <a:xfrm xmlns:a="http://schemas.openxmlformats.org/drawingml/2006/main">
            <a:off x="6120000" y="1620000"/>
            <a:ext cx="504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1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EXAMPLE: SHP-1001 - Score 85/100</a:t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disruption_severity = 55 pts</a:t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(CRITICAL: NH-48 monsoon flood)</a:t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cargo_sensitivity = 20 pts</a:t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(COLD_CHAIN vaccines)</a:t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cargo_value = 15 pts</a:t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(Rs 65L &gt;= Rs 50L threshold)</a:t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compounding = 0 pts (single disruption)</a:t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Total = 90, capped at 85 --&gt; CRITICAL band</a:t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CA5A5"/>
                </a:solidFill>
              </a:rPr>
              <a:t>IBM BoB cites ONLY these numbers in its brief.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28" name="Tag"/>
          <p:cNvSpPr txBox="1"/>
          <p:nvPr/>
        </p:nvSpPr>
        <p:spPr>
          <a:xfrm xmlns:a="http://schemas.openxmlformats.org/drawingml/2006/main">
            <a:off x="540000" y="288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87171"/>
                </a:solidFill>
              </a:rPr>
              <a:t>DEEP DIVE: COLD CHAIN</a:t>
            </a:r>
          </a:p>
        </p:txBody>
      </p:sp>
      <p:sp>
        <p:nvSpPr>
          <p:cNvPr id="100029" name="Title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Pre-Delivery IoT Excursion Detection &amp; Regulatory Classification</a:t>
            </a:r>
          </a:p>
        </p:txBody>
      </p:sp>
      <p:sp>
        <p:nvSpPr>
          <p:cNvPr id="100030" name="Sub"/>
          <p:cNvSpPr txBox="1"/>
          <p:nvPr/>
        </p:nvSpPr>
        <p:spPr>
          <a:xfrm xmlns:a="http://schemas.openxmlformats.org/drawingml/2006/main">
            <a:off x="540000" y="1512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94A3B8"/>
                </a:solidFill>
              </a:rPr>
              <a:t>SHP-1001 Vaccine Shipment - 6-Hour Sensor Log Analysis</a:t>
            </a:r>
          </a:p>
        </p:txBody>
      </p:sp>
      <p:sp>
        <p:nvSpPr>
          <p:cNvPr id="100031" name="Left"/>
          <p:cNvSpPr txBox="1"/>
          <p:nvPr/>
        </p:nvSpPr>
        <p:spPr>
          <a:xfrm xmlns:a="http://schemas.openxmlformats.org/drawingml/2006/main">
            <a:off x="540000" y="1872000"/>
            <a:ext cx="504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1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SENSOR TELEMETRY PARSED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7 IoT readings over 6h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Avg: 6.4 deg C, Min: 4.1 deg C, Max: 10.4 deg C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Door open events: 1, Battery: 72%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EXCURSION DETECTED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Duration: 120 minutes above 8 deg C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Degree-hours out of range: 4.4 DH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Peak temperature: 10.4 deg C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CLASSIFICATION LOGIC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NOMINAL: 0 min excursion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STABILITY_OK: &lt;=15 min, max&lt;=10, min&gt;=1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QUARANTINE_REQUIRED: &lt;=120 min, max&lt;=15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CARGO_SPOILED: &gt;120 min or max&gt;15 deg C</a:t>
            </a:r>
          </a:p>
        </p:txBody>
      </p:sp>
      <p:sp>
        <p:nvSpPr>
          <p:cNvPr id="100032" name="Right"/>
          <p:cNvSpPr txBox="1"/>
          <p:nvPr/>
        </p:nvSpPr>
        <p:spPr>
          <a:xfrm xmlns:a="http://schemas.openxmlformats.org/drawingml/2006/main">
            <a:off x="6120000" y="1872000"/>
            <a:ext cx="504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1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VERDICT: QUARANTINE_REQUIRED</a:t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Standard: WHO TRS 961 / FDA 21 CFR GDP</a:t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Action Required:</a:t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Moderate excursion detected. Automatic quarantine flag added. QA stability review and data log download required at receiving dock.</a:t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This alert fires BEFORE delivery:</a:t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- Reroute to temperature-controlled facility</a:t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- Notify QA team and insurance</a:t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- Dispatch replacement stock pre-emptively</a:t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Without RouteGuard AI:</a:t>
            </a:r>
          </a:p>
          <a:p xmlns:a="http://schemas.openxmlformats.org/drawingml/2006/main">
            <a:r>
              <a:rPr lang="en-US" sz="1300" b="0">
                <a:solidFill>
                  <a:srgbClr val="FCA5A5"/>
                </a:solidFill>
              </a:rPr>
              <a:t>Breach discovered on arrival. Rs 65L cargo spoiled. Full replacement cost + liability.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33" name="Tag"/>
          <p:cNvSpPr txBox="1"/>
          <p:nvPr/>
        </p:nvSpPr>
        <p:spPr>
          <a:xfrm xmlns:a="http://schemas.openxmlformats.org/drawingml/2006/main">
            <a:off x="540000" y="288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A78BFA"/>
                </a:solidFill>
              </a:rPr>
              <a:t>IBM BOB INTEGRATION</a:t>
            </a:r>
          </a:p>
        </p:txBody>
      </p:sp>
      <p:sp>
        <p:nvSpPr>
          <p:cNvPr id="100034" name="Title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IBM BoB / watsonx.ai - Genuinely Load-Bearing AI</a:t>
            </a:r>
          </a:p>
        </p:txBody>
      </p:sp>
      <p:sp>
        <p:nvSpPr>
          <p:cNvPr id="100035" name="Left"/>
          <p:cNvSpPr txBox="1"/>
          <p:nvPr/>
        </p:nvSpPr>
        <p:spPr>
          <a:xfrm xmlns:a="http://schemas.openxmlformats.org/drawingml/2006/main">
            <a:off x="540000" y="1620000"/>
            <a:ext cx="504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THE GROUNDING ARCHITECTURE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System prompt sent to Granite: Cite ONLY numbers present in the payload. Never invent a price, ETA, distance, or risk score that is not in the JSON.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WHAT BoB ACTUALLY DOES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Receives computed JSON payload: risk score + factors, reroute options, fleet candidates, cold chain report. Synthesises into one dispatcher brief.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CREWAI MULTI-AGENT NEGOTIATION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Three carrier agents (Swift, ValueHaul, TrustLine) bid independently on reroute. Negotiator agent picks best bid by stated priority.</a:t>
            </a:r>
          </a:p>
        </p:txBody>
      </p:sp>
      <p:sp>
        <p:nvSpPr>
          <p:cNvPr id="100036" name="Right"/>
          <p:cNvSpPr txBox="1"/>
          <p:nvPr/>
        </p:nvSpPr>
        <p:spPr>
          <a:xfrm xmlns:a="http://schemas.openxmlformats.org/drawingml/2006/main">
            <a:off x="6120000" y="1620000"/>
            <a:ext cx="504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>SAMPLE BoB DISPATCHER BRIEF (grounded)</a:t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>POST /api/copilot/brief {shipment_id: SHP-1001}</a:t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>SHP-1001 (Vaccines, Rs65L) scores 85/100 CRITICAL. Dominant factor: CRITICAL monsoon flood on NH-48 (+55pts), cold-chain sensitivity (+20pts), high cargo value (+15pts).</a:t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>Cold chain sensor: 10.4 deg C excursion for 120 minutes - QUARANTINE_REQUIRED under WHO TRS 961.</a:t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>RECOMMENDED: Bypass via NH48 alternate carriageway. Delta: +3.5h, +Rs2200. Projected risk after reroute: 38/100.</a:t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C4B5FD"/>
                </a:solidFill>
              </a:rPr>
              <a:t>All cited numbers from risk_engine.py and cold_chain_engine.py - not LLM inference.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37" name="Tag"/>
          <p:cNvSpPr txBox="1"/>
          <p:nvPr/>
        </p:nvSpPr>
        <p:spPr>
          <a:xfrm xmlns:a="http://schemas.openxmlformats.org/drawingml/2006/main">
            <a:off x="540000" y="288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WORKING DEMO</a:t>
            </a:r>
          </a:p>
        </p:txBody>
      </p:sp>
      <p:sp>
        <p:nvSpPr>
          <p:cNvPr id="100038" name="Title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Interactive Control Tower Dashboard</a:t>
            </a:r>
          </a:p>
        </p:txBody>
      </p:sp>
      <p:sp>
        <p:nvSpPr>
          <p:cNvPr id="100039" name="Sub"/>
          <p:cNvSpPr txBox="1"/>
          <p:nvPr/>
        </p:nvSpPr>
        <p:spPr>
          <a:xfrm xmlns:a="http://schemas.openxmlformats.org/drawingml/2006/main">
            <a:off x="540000" y="1512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94A3B8"/>
                </a:solidFill>
              </a:rPr>
              <a:t>Five-panel single-page app. Runs on localhost:8000. 16 passing unit tests. FastAPI Swagger UI at /docs.</a:t>
            </a:r>
          </a:p>
        </p:txBody>
      </p:sp>
      <p:sp>
        <p:nvSpPr>
          <p:cNvPr id="100040" name="P1"/>
          <p:cNvSpPr txBox="1"/>
          <p:nvPr/>
        </p:nvSpPr>
        <p:spPr>
          <a:xfrm xmlns:a="http://schemas.openxmlformats.org/drawingml/2006/main">
            <a:off x="540000" y="190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Panel 1: Risk Dashboard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Ranked shipments by risk score. Reroute modal with corridor options and cost/time deltas.</a:t>
            </a:r>
          </a:p>
        </p:txBody>
      </p:sp>
      <p:sp>
        <p:nvSpPr>
          <p:cNvPr id="100041" name="P2"/>
          <p:cNvSpPr txBox="1"/>
          <p:nvPr/>
        </p:nvSpPr>
        <p:spPr>
          <a:xfrm xmlns:a="http://schemas.openxmlformats.org/drawingml/2006/main">
            <a:off x="4320000" y="190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1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Panel 2: Cold Chain Monitor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SVG telemetry chart. Safe-zone band overlay. WHO/FDA severity box with recommended action.</a:t>
            </a:r>
          </a:p>
        </p:txBody>
      </p:sp>
      <p:sp>
        <p:nvSpPr>
          <p:cNvPr id="100042" name="P3"/>
          <p:cNvSpPr txBox="1"/>
          <p:nvPr/>
        </p:nvSpPr>
        <p:spPr>
          <a:xfrm xmlns:a="http://schemas.openxmlformats.org/drawingml/2006/main">
            <a:off x="8100000" y="190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Panel 3: Carrier Auction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Live CrewAI multi-agent bidding. Three bids with price, ETA, reliability. Negotiator winner shown.</a:t>
            </a:r>
          </a:p>
        </p:txBody>
      </p:sp>
      <p:sp>
        <p:nvSpPr>
          <p:cNvPr id="100043" name="P4"/>
          <p:cNvSpPr txBox="1"/>
          <p:nvPr/>
        </p:nvSpPr>
        <p:spPr>
          <a:xfrm xmlns:a="http://schemas.openxmlformats.org/drawingml/2006/main">
            <a:off x="540000" y="3240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1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Panel 4: Fleet Assets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Idle asset table. Geo-proximity distances. Capacity and redeployment match score per asset.</a:t>
            </a:r>
          </a:p>
        </p:txBody>
      </p:sp>
      <p:sp>
        <p:nvSpPr>
          <p:cNvPr id="100044" name="P5"/>
          <p:cNvSpPr txBox="1"/>
          <p:nvPr/>
        </p:nvSpPr>
        <p:spPr>
          <a:xfrm xmlns:a="http://schemas.openxmlformats.org/drawingml/2006/main">
            <a:off x="6120000" y="3240000"/>
            <a:ext cx="50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Panel 5: IBM BoB Copilot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Chat UI with grounding label. Instant plain-language briefings grounded strictly to computed facts.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45" name="Tag"/>
          <p:cNvSpPr txBox="1"/>
          <p:nvPr/>
        </p:nvSpPr>
        <p:spPr>
          <a:xfrm xmlns:a="http://schemas.openxmlformats.org/drawingml/2006/main">
            <a:off x="540000" y="288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BUSINESS IMPACT</a:t>
            </a:r>
          </a:p>
        </p:txBody>
      </p:sp>
      <p:sp>
        <p:nvSpPr>
          <p:cNvPr id="100046" name="Title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Quantified Value &amp; Industry Impact</a:t>
            </a:r>
          </a:p>
        </p:txBody>
      </p:sp>
      <p:sp>
        <p:nvSpPr>
          <p:cNvPr id="100047" name="Stat1"/>
          <p:cNvSpPr txBox="1"/>
          <p:nvPr/>
        </p:nvSpPr>
        <p:spPr>
          <a:xfrm xmlns:a="http://schemas.openxmlformats.org/drawingml/2006/main">
            <a:off x="540000" y="1800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80%</a:t>
            </a:r>
          </a:p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Faster Disruption Response</a:t>
            </a:r>
          </a:p>
          <a:p xmlns:a="http://schemas.openxmlformats.org/drawingml/2006/main">
            <a:r>
              <a:rPr lang="en-US" sz="1600" b="0">
                <a:solidFill>
                  <a:srgbClr val="E2E8F0"/>
                </a:solidFill>
              </a:rPr>
              <a:t>From hours of phone calls to minutes of automated correlation. Every affected shipment identified instantly.</a:t>
            </a:r>
          </a:p>
        </p:txBody>
      </p:sp>
      <p:sp>
        <p:nvSpPr>
          <p:cNvPr id="100048" name="Stat2"/>
          <p:cNvSpPr txBox="1"/>
          <p:nvPr/>
        </p:nvSpPr>
        <p:spPr>
          <a:xfrm xmlns:a="http://schemas.openxmlformats.org/drawingml/2006/main">
            <a:off x="4320000" y="1800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1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FCA5A5"/>
                </a:solidFill>
              </a:rPr>
              <a:t>Rs 0</a:t>
            </a:r>
          </a:p>
          <a:p xmlns:a="http://schemas.openxmlformats.org/drawingml/2006/main">
            <a:r>
              <a:rPr lang="en-US" sz="1600" b="0">
                <a:solidFill>
                  <a:srgbClr val="FCA5A5"/>
                </a:solidFill>
              </a:rPr>
              <a:t>Cold Chain Cargo Loss</a:t>
            </a:r>
          </a:p>
          <a:p xmlns:a="http://schemas.openxmlformats.org/drawingml/2006/main">
            <a:r>
              <a:rPr lang="en-US" sz="1600" b="0">
                <a:solidFill>
                  <a:srgbClr val="FCA5A5"/>
                </a:solidFill>
              </a:rPr>
              <a:t>Pre-delivery excursion detection eliminates Rs 50L+ spoilage events. QA quarantine triggered automatically.</a:t>
            </a:r>
          </a:p>
        </p:txBody>
      </p:sp>
      <p:sp>
        <p:nvSpPr>
          <p:cNvPr id="100049" name="Stat3"/>
          <p:cNvSpPr txBox="1"/>
          <p:nvPr/>
        </p:nvSpPr>
        <p:spPr>
          <a:xfrm xmlns:a="http://schemas.openxmlformats.org/drawingml/2006/main">
            <a:off x="8100000" y="1800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1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6EE7B7"/>
                </a:solidFill>
              </a:rPr>
              <a:t>25%</a:t>
            </a:r>
          </a:p>
          <a:p xmlns:a="http://schemas.openxmlformats.org/drawingml/2006/main">
            <a:r>
              <a:rPr lang="en-US" sz="1600" b="0">
                <a:solidFill>
                  <a:srgbClr val="6EE7B7"/>
                </a:solidFill>
              </a:rPr>
              <a:t>Fleet Cost Savings</a:t>
            </a:r>
          </a:p>
          <a:p xmlns:a="http://schemas.openxmlformats.org/drawingml/2006/main">
            <a:r>
              <a:rPr lang="en-US" sz="1600" b="0">
                <a:solidFill>
                  <a:srgbClr val="6EE7B7"/>
                </a:solidFill>
              </a:rPr>
              <a:t>Idle assets matched to surge lanes without broker markup. Fleet utilisation rises from &lt;65% to &gt;90%.</a:t>
            </a:r>
          </a:p>
        </p:txBody>
      </p:sp>
      <p:sp>
        <p:nvSpPr>
          <p:cNvPr id="100050" name="Roadmap"/>
          <p:cNvSpPr txBox="1"/>
          <p:nvPr/>
        </p:nvSpPr>
        <p:spPr>
          <a:xfrm xmlns:a="http://schemas.openxmlformats.org/drawingml/2006/main">
            <a:off x="540000" y="378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64748B"/>
                </a:solidFill>
              </a:rPr>
              <a:t>Future Roadmap: Direct NHAI FASTag API integration, Cellular IoT sensor push protocol, SAP/Oracle TMS connector, Multi-city GDACS polygon routing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51" name="Tag"/>
          <p:cNvSpPr txBox="1"/>
          <p:nvPr/>
        </p:nvSpPr>
        <p:spPr>
          <a:xfrm xmlns:a="http://schemas.openxmlformats.org/drawingml/2006/main">
            <a:off x="540000" y="288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THANK YOU</a:t>
            </a:r>
          </a:p>
        </p:txBody>
      </p:sp>
      <p:sp>
        <p:nvSpPr>
          <p:cNvPr id="100052" name="Title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FFFFFF"/>
                </a:solidFill>
              </a:rPr>
              <a:t>RouteGuard AI</a:t>
            </a:r>
          </a:p>
        </p:txBody>
      </p:sp>
      <p:sp>
        <p:nvSpPr>
          <p:cNvPr id="100053" name="Sub"/>
          <p:cNvSpPr txBox="1"/>
          <p:nvPr/>
        </p:nvSpPr>
        <p:spPr>
          <a:xfrm xmlns:a="http://schemas.openxmlformats.org/drawingml/2006/main">
            <a:off x="540000" y="1548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94A3B8"/>
                </a:solidFill>
              </a:rPr>
              <a:t>One control tower to stop supply chain fires before they start.</a:t>
            </a:r>
          </a:p>
        </p:txBody>
      </p:sp>
      <p:sp>
        <p:nvSpPr>
          <p:cNvPr id="100054" name="Built"/>
          <p:cNvSpPr txBox="1"/>
          <p:nvPr/>
        </p:nvSpPr>
        <p:spPr>
          <a:xfrm xmlns:a="http://schemas.openxmlformats.org/drawingml/2006/main">
            <a:off x="540000" y="1980000"/>
            <a:ext cx="504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What We Built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- Live GDACS disruption radar + Haversine impact correlation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- Deterministic 0-100 risk engine, every point auditable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- Cold chain IoT monitor, WHO/FDA excursion classification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- CrewAI 4-agent carrier negotiation hub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- Fleet idle-asset redeployment engine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- IBM BoB / watsonx.ai grounded dispatcher copilot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- 16 passing unit tests, Full FastAPI REST backend</a:t>
            </a:r>
          </a:p>
        </p:txBody>
      </p:sp>
      <p:sp>
        <p:nvSpPr>
          <p:cNvPr id="100055" name="Why"/>
          <p:cNvSpPr txBox="1"/>
          <p:nvPr/>
        </p:nvSpPr>
        <p:spPr>
          <a:xfrm xmlns:a="http://schemas.openxmlformats.org/drawingml/2006/main">
            <a:off x="6120000" y="1980000"/>
            <a:ext cx="504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>Why This Architecture Wins</a:t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>The LLM never computes risk scores. It only explains them.</a:t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>Every number cited by IBM BoB originated from the deterministic Python engine. A dispatcher or a judge can trace any claim to a named, inspectable factor.</a:t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>This hybrid architecture makes AI logistics software trustworthy and auditable for the real world.</a:t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>Team Vibhishana assembles | CHARUSAT</a:t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>IBM BoB AI Innovation Hackathon 2026</a:t>
            </a:r>
          </a:p>
          <a:p xmlns:a="http://schemas.openxmlformats.org/drawingml/2006/main">
            <a:r>
              <a:rPr lang="en-US" sz="1400" b="0">
                <a:solidFill>
                  <a:srgbClr val="C4B5FD"/>
                </a:solidFill>
              </a:rPr>
              <a:t>Repository: bob-ai-hackathon-Vibhishana-assembles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2026-09-15T13:42:23Z</dcterms:created>
  <cp:lastModifiedBy>OfficeCLI</cp:lastModifiedBy>
  <dcterms:modified xsi:type="dcterms:W3CDTF">2026-09-15T13:42:23Z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1.0.150</vt:lpwstr>
  </op:property>
  <op:property fmtid="{D5CDD505-2E9C-101B-9397-08002B2CF9AE}" pid="3" name="OfficeCLI.LastModified">
    <vt:lpwstr xmlns:vt="http://schemas.openxmlformats.org/officeDocument/2006/docPropsVTypes">2026-09-15T13:44:37Z</vt:lpwstr>
  </op:property>
</op:Properties>
</file>